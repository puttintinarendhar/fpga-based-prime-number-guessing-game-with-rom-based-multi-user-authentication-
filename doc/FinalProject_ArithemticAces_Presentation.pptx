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82" r:id="rId2"/>
    <p:sldId id="257" r:id="rId3"/>
    <p:sldId id="258" r:id="rId4"/>
    <p:sldId id="259" r:id="rId5"/>
    <p:sldId id="260" r:id="rId6"/>
    <p:sldId id="283" r:id="rId7"/>
    <p:sldId id="265" r:id="rId8"/>
    <p:sldId id="267" r:id="rId9"/>
    <p:sldId id="264" r:id="rId10"/>
    <p:sldId id="268" r:id="rId11"/>
    <p:sldId id="262" r:id="rId12"/>
    <p:sldId id="269" r:id="rId13"/>
    <p:sldId id="270" r:id="rId14"/>
    <p:sldId id="271" r:id="rId15"/>
    <p:sldId id="272" r:id="rId16"/>
    <p:sldId id="273" r:id="rId17"/>
    <p:sldId id="275" r:id="rId18"/>
    <p:sldId id="277" r:id="rId19"/>
    <p:sldId id="278" r:id="rId20"/>
    <p:sldId id="280" r:id="rId21"/>
    <p:sldId id="28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E89F827-1F30-0FBA-6F24-386CF0ACA267}" v="199" dt="2026-05-12T02:53:40.5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69" d="100"/>
          <a:sy n="69" d="100"/>
        </p:scale>
        <p:origin x="1200" y="2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7887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2994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5564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0119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6071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8872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0948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8396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444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0386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5333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46860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4160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8225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0243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5422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6079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52870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1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A9125-A1F4-014F-E45D-B0B2E9301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981" y="275737"/>
            <a:ext cx="7540089" cy="2113501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b="1" dirty="0"/>
              <a:t>FPGA Based Prime Number Guessing Game With ROM Based Multi-User Authentication And RAM-Score Tracking</a:t>
            </a:r>
            <a:endParaRPr lang="en-GB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52C8A6-BAF7-EEEE-61A5-45298B598D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7700" y="2920181"/>
            <a:ext cx="7470726" cy="332822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1800" dirty="0"/>
              <a:t>ECE 6370 – Advanced Digital Design</a:t>
            </a:r>
          </a:p>
          <a:p>
            <a:pPr marL="0" indent="0" algn="ctr">
              <a:buNone/>
            </a:pPr>
            <a:r>
              <a:rPr lang="en-GB" sz="1800" dirty="0"/>
              <a:t>Team: </a:t>
            </a:r>
            <a:r>
              <a:rPr lang="en-GB" sz="1800" dirty="0" err="1"/>
              <a:t>ArithmeticAces</a:t>
            </a:r>
            <a:endParaRPr lang="en-GB" sz="1800" dirty="0"/>
          </a:p>
          <a:p>
            <a:pPr algn="ctr"/>
            <a:endParaRPr lang="en-GB" sz="1800" dirty="0"/>
          </a:p>
          <a:p>
            <a:pPr marL="0" indent="0" algn="ctr">
              <a:buNone/>
            </a:pPr>
            <a:r>
              <a:rPr lang="en-GB" sz="1800" dirty="0"/>
              <a:t>Dharani </a:t>
            </a:r>
            <a:r>
              <a:rPr lang="en-GB" sz="1800" dirty="0" err="1"/>
              <a:t>Kandhalam</a:t>
            </a:r>
            <a:r>
              <a:rPr lang="en-GB" sz="1800" dirty="0"/>
              <a:t> - 2431389</a:t>
            </a:r>
          </a:p>
          <a:p>
            <a:pPr marL="0" indent="0" algn="ctr">
              <a:buNone/>
            </a:pPr>
            <a:r>
              <a:rPr lang="en-GB" sz="1800" dirty="0"/>
              <a:t>Sri Sai Dhanush </a:t>
            </a:r>
            <a:r>
              <a:rPr lang="en-GB" sz="1800" dirty="0" err="1"/>
              <a:t>Karnatapu</a:t>
            </a:r>
            <a:r>
              <a:rPr lang="en-GB" sz="1800" dirty="0"/>
              <a:t> - 2357472</a:t>
            </a:r>
          </a:p>
          <a:p>
            <a:pPr marL="0" indent="0" algn="ctr">
              <a:buNone/>
            </a:pPr>
            <a:r>
              <a:rPr lang="en-GB" sz="1800" dirty="0"/>
              <a:t>Narendhar Puttinti - 2454090</a:t>
            </a:r>
          </a:p>
          <a:p>
            <a:pPr marL="0" indent="0" algn="ctr">
              <a:buNone/>
            </a:pPr>
            <a:r>
              <a:rPr lang="en-GB" sz="1800" dirty="0"/>
              <a:t>Mukesh Musham - 2430886</a:t>
            </a:r>
          </a:p>
          <a:p>
            <a:pPr marL="0" indent="0" algn="ctr">
              <a:buNone/>
            </a:pPr>
            <a:r>
              <a:rPr lang="en-GB" sz="1800" dirty="0"/>
              <a:t>Hysritha Sai Kasarapu - 2442341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431541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dirty="0"/>
              <a:t>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12490"/>
            <a:ext cx="8229600" cy="3834581"/>
          </a:xfrm>
        </p:spPr>
        <p:txBody>
          <a:bodyPr>
            <a:noAutofit/>
          </a:bodyPr>
          <a:lstStyle/>
          <a:p>
            <a:pPr>
              <a:defRPr sz="1800"/>
            </a:pPr>
            <a:r>
              <a:rPr dirty="0"/>
              <a:t>Interactive FPGA-based game where the system generates a hidden prime number.</a:t>
            </a:r>
          </a:p>
          <a:p>
            <a:pPr>
              <a:defRPr sz="1800"/>
            </a:pPr>
            <a:r>
              <a:rPr dirty="0"/>
              <a:t>Player guesses the number using FPGA switches and push buttons.</a:t>
            </a:r>
          </a:p>
          <a:p>
            <a:pPr>
              <a:defRPr sz="1800"/>
            </a:pPr>
            <a:r>
              <a:rPr lang="en-IN" dirty="0"/>
              <a:t>Real-time feedback displayed using 7-segment displays.</a:t>
            </a:r>
          </a:p>
          <a:p>
            <a:pPr>
              <a:defRPr sz="1800"/>
            </a:pPr>
            <a:r>
              <a:rPr lang="en-IN" dirty="0"/>
              <a:t>Designed completely using Verilog HDL with modular digital architecture.</a:t>
            </a:r>
          </a:p>
          <a:p>
            <a:pPr>
              <a:defRPr sz="1800"/>
            </a:pPr>
            <a:r>
              <a:rPr lang="en-IN" dirty="0"/>
              <a:t>Combines FSMs, ROMs, LFSRs, Timers, and Display Controllers into one integrated system.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194" y="78658"/>
            <a:ext cx="7055380" cy="727587"/>
          </a:xfrm>
        </p:spPr>
        <p:txBody>
          <a:bodyPr/>
          <a:lstStyle/>
          <a:p>
            <a:r>
              <a:rPr sz="2000" dirty="0"/>
              <a:t> </a:t>
            </a:r>
            <a:r>
              <a:rPr sz="3600" dirty="0"/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71716"/>
            <a:ext cx="8229600" cy="5511645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342900" indent="-342900">
              <a:defRPr sz="1800"/>
            </a:pPr>
            <a:r>
              <a:rPr lang="en-IN" sz="1700"/>
              <a:t>System Architecture</a:t>
            </a:r>
            <a:endParaRPr lang="en-IN" sz="1700" dirty="0"/>
          </a:p>
          <a:p>
            <a:pPr marL="342900" indent="-342900">
              <a:buClr>
                <a:srgbClr val="8AD0D6"/>
              </a:buClr>
              <a:defRPr sz="1800"/>
            </a:pPr>
            <a:r>
              <a:rPr lang="en-IN" sz="1700"/>
              <a:t>Game Flow</a:t>
            </a:r>
            <a:endParaRPr lang="en-IN" sz="1700" dirty="0"/>
          </a:p>
          <a:p>
            <a:pPr marL="342900" indent="-342900">
              <a:defRPr sz="1800"/>
            </a:pPr>
            <a:r>
              <a:rPr lang="en-IN" sz="1700"/>
              <a:t>Game Interface on Board</a:t>
            </a:r>
            <a:endParaRPr lang="en-IN" sz="1700" dirty="0"/>
          </a:p>
          <a:p>
            <a:pPr marL="342900" indent="-342900">
              <a:defRPr sz="1800"/>
            </a:pPr>
            <a:r>
              <a:rPr lang="en-IN" sz="1700"/>
              <a:t>Details about Modules of the System </a:t>
            </a:r>
            <a:endParaRPr lang="en-IN" sz="1700" dirty="0"/>
          </a:p>
          <a:p>
            <a:pPr marL="342900" indent="-342900">
              <a:defRPr sz="1800"/>
            </a:pPr>
            <a:r>
              <a:rPr lang="en-IN" sz="1700" dirty="0"/>
              <a:t>Testing and </a:t>
            </a:r>
            <a:r>
              <a:rPr lang="en-IN" sz="1700"/>
              <a:t>Verification</a:t>
            </a:r>
          </a:p>
          <a:p>
            <a:pPr marL="342900" indent="-342900">
              <a:buClr>
                <a:srgbClr val="8AD0D6"/>
              </a:buClr>
              <a:defRPr sz="1800"/>
            </a:pPr>
            <a:r>
              <a:rPr lang="en-IN" sz="1700"/>
              <a:t>Results</a:t>
            </a:r>
            <a:endParaRPr lang="en-IN" sz="1700" dirty="0"/>
          </a:p>
          <a:p>
            <a:pPr marL="342900" indent="-342900">
              <a:buClr>
                <a:srgbClr val="8AD0D6"/>
              </a:buClr>
              <a:defRPr sz="1800"/>
            </a:pPr>
            <a:r>
              <a:rPr lang="en-IN" sz="1700" dirty="0"/>
              <a:t>Conc</a:t>
            </a:r>
            <a:r>
              <a:rPr lang="en-IN" sz="1700"/>
              <a:t>lusion</a:t>
            </a:r>
            <a:endParaRPr lang="en-IN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dirty="0"/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535777"/>
            <a:ext cx="8229600" cy="3158880"/>
          </a:xfrm>
        </p:spPr>
        <p:txBody>
          <a:bodyPr/>
          <a:lstStyle/>
          <a:p>
            <a:pPr>
              <a:defRPr sz="1800"/>
            </a:pPr>
            <a:r>
              <a:rPr lang="en-IN" dirty="0"/>
              <a:t> </a:t>
            </a:r>
            <a:endParaRPr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BDD532E-CB73-E515-6C40-4D6A753137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638" y="1163343"/>
            <a:ext cx="8632723" cy="5348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C13735A7-84FC-FF52-C187-145EFA806D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759446" y="865239"/>
            <a:ext cx="7625108" cy="5329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88A4CF-3985-3582-8443-A0466B917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3600" dirty="0"/>
              <a:t>Interface</a:t>
            </a:r>
            <a:endParaRPr lang="en-GB" sz="3600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1C7263C-592D-1DAA-FCC4-E3744A3423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2259" y="1632155"/>
            <a:ext cx="8020464" cy="4508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91616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dirty="0" err="1"/>
              <a:t>PrimeGameController</a:t>
            </a:r>
            <a:r>
              <a:rPr sz="3600" dirty="0"/>
              <a:t> FSM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71484"/>
            <a:ext cx="8229600" cy="4454679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defRPr sz="1800"/>
            </a:pPr>
            <a:r>
              <a:rPr dirty="0"/>
              <a:t>Central FSM controlling overall gameplay.</a:t>
            </a:r>
          </a:p>
          <a:p>
            <a:pPr>
              <a:lnSpc>
                <a:spcPct val="150000"/>
              </a:lnSpc>
              <a:defRPr sz="1800"/>
            </a:pPr>
            <a:r>
              <a:rPr dirty="0"/>
              <a:t>Implements deterministic state-based hardware control.</a:t>
            </a:r>
          </a:p>
          <a:p>
            <a:pPr>
              <a:lnSpc>
                <a:spcPct val="150000"/>
              </a:lnSpc>
              <a:defRPr sz="1800"/>
            </a:pPr>
            <a:r>
              <a:rPr dirty="0"/>
              <a:t>States include IDLE, START_GAME, SHOW_GO, ACTIVE, NEW_ROUND, and GAME_OVER.</a:t>
            </a:r>
          </a:p>
          <a:p>
            <a:pPr>
              <a:lnSpc>
                <a:spcPct val="150000"/>
              </a:lnSpc>
              <a:defRPr sz="1800"/>
            </a:pPr>
            <a:r>
              <a:rPr dirty="0"/>
              <a:t>Controls timers, score updates, target generation, and display hints.</a:t>
            </a:r>
          </a:p>
          <a:p>
            <a:pPr>
              <a:lnSpc>
                <a:spcPct val="150000"/>
              </a:lnSpc>
              <a:defRPr sz="1800"/>
            </a:pPr>
            <a:r>
              <a:rPr dirty="0"/>
              <a:t>Coordinates interaction between all major modules.</a:t>
            </a:r>
          </a:p>
          <a:p>
            <a:pPr>
              <a:lnSpc>
                <a:spcPct val="150000"/>
              </a:lnSpc>
              <a:defRPr sz="1800"/>
            </a:pPr>
            <a:r>
              <a:rPr dirty="0"/>
              <a:t>Ensures stable sequential operation throughout gameplay.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dirty="0"/>
              <a:t>Prime Target Generation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61652"/>
            <a:ext cx="8229600" cy="4464511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defRPr sz="1800"/>
            </a:pPr>
            <a:r>
              <a:rPr dirty="0" err="1"/>
              <a:t>PrimeTargetGenerator</a:t>
            </a:r>
            <a:r>
              <a:rPr dirty="0"/>
              <a:t> generates hidden target primes.</a:t>
            </a:r>
          </a:p>
          <a:p>
            <a:pPr>
              <a:lnSpc>
                <a:spcPct val="150000"/>
              </a:lnSpc>
              <a:defRPr sz="1800"/>
            </a:pPr>
            <a:r>
              <a:rPr dirty="0"/>
              <a:t>Uses </a:t>
            </a:r>
            <a:r>
              <a:rPr dirty="0" err="1"/>
              <a:t>RandomIndexLFSR</a:t>
            </a:r>
            <a:r>
              <a:rPr dirty="0"/>
              <a:t> for pseudo-random address generation.</a:t>
            </a:r>
          </a:p>
          <a:p>
            <a:pPr>
              <a:lnSpc>
                <a:spcPct val="150000"/>
              </a:lnSpc>
              <a:defRPr sz="1800"/>
            </a:pPr>
            <a:r>
              <a:rPr dirty="0" err="1"/>
              <a:t>ROM_PrimeNumbers</a:t>
            </a:r>
            <a:r>
              <a:rPr dirty="0"/>
              <a:t> stores all valid prime numbers.</a:t>
            </a:r>
          </a:p>
          <a:p>
            <a:pPr>
              <a:lnSpc>
                <a:spcPct val="150000"/>
              </a:lnSpc>
              <a:defRPr sz="1800"/>
            </a:pPr>
            <a:r>
              <a:rPr dirty="0" err="1"/>
              <a:t>ROM_PrimeNumbers.hex</a:t>
            </a:r>
            <a:r>
              <a:rPr dirty="0"/>
              <a:t> initializes ROM memory contents.</a:t>
            </a:r>
          </a:p>
          <a:p>
            <a:pPr>
              <a:lnSpc>
                <a:spcPct val="150000"/>
              </a:lnSpc>
              <a:defRPr sz="1800"/>
            </a:pPr>
            <a:r>
              <a:rPr dirty="0"/>
              <a:t>Level-based address clamping ensures difficulty control.</a:t>
            </a:r>
          </a:p>
          <a:p>
            <a:pPr>
              <a:lnSpc>
                <a:spcPct val="150000"/>
              </a:lnSpc>
              <a:defRPr sz="1800"/>
            </a:pPr>
            <a:r>
              <a:rPr dirty="0"/>
              <a:t>ROM-based approach guarantees valid prime generation without expensive computations.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dirty="0"/>
              <a:t>Level Selection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20645"/>
            <a:ext cx="8229600" cy="4317027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defRPr sz="1800"/>
            </a:pPr>
            <a:r>
              <a:rPr dirty="0"/>
              <a:t>LevelSelector controls gameplay difficulty.</a:t>
            </a:r>
          </a:p>
          <a:p>
            <a:pPr algn="just">
              <a:lnSpc>
                <a:spcPct val="150000"/>
              </a:lnSpc>
              <a:defRPr sz="1800"/>
            </a:pPr>
            <a:r>
              <a:rPr dirty="0"/>
              <a:t>User cycles through difficulty levels using LEVEL button.</a:t>
            </a:r>
          </a:p>
          <a:p>
            <a:pPr algn="just">
              <a:lnSpc>
                <a:spcPct val="150000"/>
              </a:lnSpc>
              <a:defRPr sz="1800"/>
            </a:pPr>
            <a:r>
              <a:rPr dirty="0"/>
              <a:t>Level 1: Prime range up to 23 with 099-second timer.</a:t>
            </a:r>
          </a:p>
          <a:p>
            <a:pPr algn="just">
              <a:lnSpc>
                <a:spcPct val="150000"/>
              </a:lnSpc>
              <a:defRPr sz="1800"/>
            </a:pPr>
            <a:r>
              <a:rPr dirty="0"/>
              <a:t>Level 2: Prime range up to 53 with 160-second timer.</a:t>
            </a:r>
          </a:p>
          <a:p>
            <a:pPr algn="just">
              <a:lnSpc>
                <a:spcPct val="150000"/>
              </a:lnSpc>
              <a:defRPr sz="1800"/>
            </a:pPr>
            <a:r>
              <a:rPr dirty="0"/>
              <a:t>Level 3: Prime range up to 97 with 220-second timer.</a:t>
            </a:r>
          </a:p>
          <a:p>
            <a:pPr algn="just">
              <a:lnSpc>
                <a:spcPct val="150000"/>
              </a:lnSpc>
              <a:defRPr sz="1800"/>
            </a:pPr>
            <a:r>
              <a:rPr dirty="0"/>
              <a:t>Level changes are blocked during active gameplay for stability.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dirty="0"/>
              <a:t>LFSR Randomization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73161"/>
            <a:ext cx="8229600" cy="455300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defRPr sz="1800"/>
            </a:pPr>
            <a:r>
              <a:rPr dirty="0" err="1"/>
              <a:t>PrimeLFSR</a:t>
            </a:r>
            <a:r>
              <a:rPr dirty="0"/>
              <a:t> implements a 16-bit Linear Feedback Shift Register.</a:t>
            </a:r>
          </a:p>
          <a:p>
            <a:pPr>
              <a:lnSpc>
                <a:spcPct val="150000"/>
              </a:lnSpc>
              <a:defRPr sz="1800"/>
            </a:pPr>
            <a:r>
              <a:rPr dirty="0"/>
              <a:t>Provides hardware-efficient pseudo-random number generation.</a:t>
            </a:r>
          </a:p>
          <a:p>
            <a:pPr>
              <a:lnSpc>
                <a:spcPct val="150000"/>
              </a:lnSpc>
              <a:defRPr sz="1800"/>
            </a:pPr>
            <a:r>
              <a:rPr dirty="0" err="1"/>
              <a:t>RandomIndexLFSR</a:t>
            </a:r>
            <a:r>
              <a:rPr dirty="0"/>
              <a:t> extracts ROM addresses from LFSR outputs.</a:t>
            </a:r>
          </a:p>
          <a:p>
            <a:pPr>
              <a:lnSpc>
                <a:spcPct val="150000"/>
              </a:lnSpc>
              <a:defRPr sz="1800"/>
            </a:pPr>
            <a:r>
              <a:rPr dirty="0"/>
              <a:t>Consumes fewer FPGA resources compared to arithmetic RNGs.</a:t>
            </a:r>
          </a:p>
          <a:p>
            <a:pPr>
              <a:lnSpc>
                <a:spcPct val="150000"/>
              </a:lnSpc>
              <a:defRPr sz="1800"/>
            </a:pPr>
            <a:r>
              <a:rPr dirty="0"/>
              <a:t>Ensures different target primes for every round.</a:t>
            </a:r>
          </a:p>
          <a:p>
            <a:pPr>
              <a:lnSpc>
                <a:spcPct val="150000"/>
              </a:lnSpc>
              <a:defRPr sz="1800"/>
            </a:pPr>
            <a:r>
              <a:rPr dirty="0"/>
              <a:t>Improves unpredictability and gameplay variation.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dirty="0"/>
              <a:t>Authentication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35510"/>
            <a:ext cx="8229600" cy="4896463"/>
          </a:xfrm>
        </p:spPr>
        <p:txBody>
          <a:bodyPr>
            <a:noAutofit/>
          </a:bodyPr>
          <a:lstStyle/>
          <a:p>
            <a:pPr>
              <a:defRPr sz="1800"/>
            </a:pPr>
            <a:r>
              <a:rPr dirty="0"/>
              <a:t>Multi-user login mechanism implemented using ROM-based verification.</a:t>
            </a:r>
          </a:p>
          <a:p>
            <a:pPr>
              <a:defRPr sz="1800"/>
            </a:pPr>
            <a:r>
              <a:rPr dirty="0"/>
              <a:t>Authentication module controls secure gameplay access.</a:t>
            </a:r>
          </a:p>
          <a:p>
            <a:pPr>
              <a:defRPr sz="1800"/>
            </a:pPr>
            <a:r>
              <a:rPr dirty="0"/>
              <a:t>Player IDs and passwords stored in dedicated ROM files.</a:t>
            </a:r>
          </a:p>
          <a:p>
            <a:pPr>
              <a:defRPr sz="1800"/>
            </a:pPr>
            <a:r>
              <a:rPr dirty="0" err="1"/>
              <a:t>ID_Checking_Module</a:t>
            </a:r>
            <a:r>
              <a:rPr dirty="0"/>
              <a:t> validates Player IDs.</a:t>
            </a:r>
          </a:p>
          <a:p>
            <a:pPr>
              <a:defRPr sz="1800"/>
            </a:pPr>
            <a:r>
              <a:rPr dirty="0" err="1"/>
              <a:t>Password_Checking_Module</a:t>
            </a:r>
            <a:r>
              <a:rPr dirty="0"/>
              <a:t> validates passwords.</a:t>
            </a:r>
          </a:p>
          <a:p>
            <a:pPr>
              <a:defRPr sz="1800"/>
            </a:pPr>
            <a:r>
              <a:rPr dirty="0" err="1"/>
              <a:t>PlayerID_ROM.hex</a:t>
            </a:r>
            <a:r>
              <a:rPr dirty="0"/>
              <a:t> and </a:t>
            </a:r>
            <a:r>
              <a:rPr dirty="0" err="1"/>
              <a:t>Password_ROM.hex</a:t>
            </a:r>
            <a:r>
              <a:rPr dirty="0"/>
              <a:t> store authorized credentials.</a:t>
            </a:r>
          </a:p>
          <a:p>
            <a:pPr>
              <a:defRPr sz="1800"/>
            </a:pPr>
            <a:r>
              <a:rPr dirty="0"/>
              <a:t>Logged-In and Logged-Out states are shown using LEDs.</a:t>
            </a:r>
            <a:endParaRPr lang="en-IN" dirty="0"/>
          </a:p>
          <a:p>
            <a:pPr>
              <a:defRPr sz="1800"/>
            </a:pPr>
            <a:r>
              <a:rPr lang="en-GB" dirty="0" err="1"/>
              <a:t>ButtonShaper</a:t>
            </a:r>
            <a:r>
              <a:rPr lang="en-GB" dirty="0"/>
              <a:t> eliminates switch bounce and generates clean one-clock-cycle pulses for reliable START, LOAD, RESET, and LEVEL button operations.</a:t>
            </a:r>
            <a:endParaRPr lang="en-IN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dirty="0"/>
              <a:t>Two</a:t>
            </a:r>
            <a:r>
              <a:rPr lang="en-IN" sz="3600" dirty="0"/>
              <a:t>-</a:t>
            </a:r>
            <a:r>
              <a:rPr sz="3600" dirty="0"/>
              <a:t>Digit</a:t>
            </a:r>
            <a:r>
              <a:rPr lang="en-IN" sz="3600" dirty="0"/>
              <a:t> </a:t>
            </a:r>
            <a:r>
              <a:rPr sz="3600" dirty="0" err="1"/>
              <a:t>GuessInput</a:t>
            </a:r>
            <a:r>
              <a:rPr sz="3600" dirty="0"/>
              <a:t>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700" y="1563329"/>
            <a:ext cx="6711654" cy="4685077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defRPr sz="1800"/>
            </a:pPr>
            <a:r>
              <a:rPr dirty="0"/>
              <a:t>Captures player guesses digit-by-digit.</a:t>
            </a:r>
          </a:p>
          <a:p>
            <a:pPr algn="just">
              <a:lnSpc>
                <a:spcPct val="150000"/>
              </a:lnSpc>
              <a:defRPr sz="1800"/>
            </a:pPr>
            <a:r>
              <a:rPr dirty="0"/>
              <a:t>Shared switch interface minimizes hardware usage.</a:t>
            </a:r>
          </a:p>
          <a:p>
            <a:pPr algn="just">
              <a:lnSpc>
                <a:spcPct val="150000"/>
              </a:lnSpc>
              <a:defRPr sz="1800"/>
            </a:pPr>
            <a:r>
              <a:rPr dirty="0"/>
              <a:t>First LOAD stores tens digit.</a:t>
            </a:r>
          </a:p>
          <a:p>
            <a:pPr algn="just">
              <a:lnSpc>
                <a:spcPct val="150000"/>
              </a:lnSpc>
              <a:defRPr sz="1800"/>
            </a:pPr>
            <a:r>
              <a:rPr dirty="0"/>
              <a:t>Second LOAD stores one</a:t>
            </a:r>
            <a:r>
              <a:rPr lang="en-IN" dirty="0"/>
              <a:t>'</a:t>
            </a:r>
            <a:r>
              <a:rPr dirty="0"/>
              <a:t>s digit.</a:t>
            </a:r>
          </a:p>
          <a:p>
            <a:pPr algn="just">
              <a:lnSpc>
                <a:spcPct val="150000"/>
              </a:lnSpc>
              <a:defRPr sz="1800"/>
            </a:pPr>
            <a:r>
              <a:rPr dirty="0"/>
              <a:t>Outputs </a:t>
            </a:r>
            <a:r>
              <a:rPr dirty="0" err="1"/>
              <a:t>GuessNumber</a:t>
            </a:r>
            <a:r>
              <a:rPr dirty="0"/>
              <a:t> and </a:t>
            </a:r>
            <a:r>
              <a:rPr dirty="0" err="1"/>
              <a:t>GuessReady</a:t>
            </a:r>
            <a:r>
              <a:rPr dirty="0"/>
              <a:t> signals.</a:t>
            </a:r>
          </a:p>
          <a:p>
            <a:pPr algn="just">
              <a:lnSpc>
                <a:spcPct val="150000"/>
              </a:lnSpc>
              <a:defRPr sz="1800"/>
            </a:pPr>
            <a:r>
              <a:rPr dirty="0"/>
              <a:t>Rejects invalid digit values greater than 9.</a:t>
            </a:r>
          </a:p>
          <a:p>
            <a:pPr algn="just">
              <a:lnSpc>
                <a:spcPct val="150000"/>
              </a:lnSpc>
              <a:defRPr sz="1800"/>
            </a:pPr>
            <a:r>
              <a:rPr dirty="0"/>
              <a:t>Simplifies user interaction on FPGA hardware.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dirty="0" err="1"/>
              <a:t>PrimeChecker</a:t>
            </a:r>
            <a:r>
              <a:rPr sz="3600" dirty="0"/>
              <a:t>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700" y="1553497"/>
            <a:ext cx="6711654" cy="4694909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defRPr sz="1800"/>
            </a:pPr>
            <a:r>
              <a:rPr dirty="0" err="1"/>
              <a:t>PrimeChecker</a:t>
            </a:r>
            <a:r>
              <a:rPr dirty="0"/>
              <a:t> validates whether entered guess is prime.</a:t>
            </a:r>
          </a:p>
          <a:p>
            <a:pPr algn="just">
              <a:lnSpc>
                <a:spcPct val="150000"/>
              </a:lnSpc>
              <a:defRPr sz="1800"/>
            </a:pPr>
            <a:r>
              <a:rPr dirty="0"/>
              <a:t>Uses combinational lookup architecture.</a:t>
            </a:r>
          </a:p>
          <a:p>
            <a:pPr algn="just">
              <a:lnSpc>
                <a:spcPct val="150000"/>
              </a:lnSpc>
              <a:defRPr sz="1800"/>
            </a:pPr>
            <a:r>
              <a:rPr dirty="0"/>
              <a:t>Rejects invalid non-prime guesses.</a:t>
            </a:r>
          </a:p>
          <a:p>
            <a:pPr algn="just">
              <a:lnSpc>
                <a:spcPct val="150000"/>
              </a:lnSpc>
              <a:defRPr sz="1800"/>
            </a:pPr>
            <a:r>
              <a:rPr dirty="0"/>
              <a:t>Outputs </a:t>
            </a:r>
            <a:r>
              <a:rPr dirty="0" err="1"/>
              <a:t>IsPrimeGuess</a:t>
            </a:r>
            <a:r>
              <a:rPr dirty="0"/>
              <a:t> signal to Game Controller.</a:t>
            </a:r>
          </a:p>
          <a:p>
            <a:pPr algn="just">
              <a:lnSpc>
                <a:spcPct val="150000"/>
              </a:lnSpc>
              <a:defRPr sz="1800"/>
            </a:pPr>
            <a:r>
              <a:rPr dirty="0"/>
              <a:t>Enables instant feedback generation.</a:t>
            </a:r>
          </a:p>
          <a:p>
            <a:pPr algn="just">
              <a:lnSpc>
                <a:spcPct val="150000"/>
              </a:lnSpc>
              <a:defRPr sz="1800"/>
            </a:pPr>
            <a:r>
              <a:rPr dirty="0"/>
              <a:t>Improves overall gameplay efficiency and response speed.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dirty="0"/>
              <a:t>Timer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53248"/>
            <a:ext cx="8229600" cy="4272916"/>
          </a:xfrm>
        </p:spPr>
        <p:txBody>
          <a:bodyPr>
            <a:noAutofit/>
          </a:bodyPr>
          <a:lstStyle/>
          <a:p>
            <a:pPr>
              <a:defRPr sz="1800"/>
            </a:pPr>
            <a:r>
              <a:rPr dirty="0" err="1"/>
              <a:t>OneSecTimer</a:t>
            </a:r>
            <a:r>
              <a:rPr dirty="0"/>
              <a:t> generates precise 1-second pulses.</a:t>
            </a:r>
          </a:p>
          <a:p>
            <a:pPr>
              <a:defRPr sz="1800"/>
            </a:pPr>
            <a:r>
              <a:rPr dirty="0" err="1"/>
              <a:t>ThreeDigitTimer</a:t>
            </a:r>
            <a:r>
              <a:rPr dirty="0"/>
              <a:t> maintains countdown gameplay timer.</a:t>
            </a:r>
          </a:p>
          <a:p>
            <a:pPr>
              <a:defRPr sz="1800"/>
            </a:pPr>
            <a:r>
              <a:rPr dirty="0" err="1"/>
              <a:t>hundredmsecTimer</a:t>
            </a:r>
            <a:r>
              <a:rPr dirty="0"/>
              <a:t> and countTo10Timer provide timing synchronization.</a:t>
            </a:r>
          </a:p>
          <a:p>
            <a:pPr>
              <a:defRPr sz="1800"/>
            </a:pPr>
            <a:r>
              <a:rPr dirty="0" err="1"/>
              <a:t>msecTimer_LFSR</a:t>
            </a:r>
            <a:r>
              <a:rPr dirty="0"/>
              <a:t> supports internal timing operations.</a:t>
            </a:r>
          </a:p>
          <a:p>
            <a:pPr>
              <a:defRPr sz="1800"/>
            </a:pPr>
            <a:r>
              <a:rPr dirty="0"/>
              <a:t>Different timer values assigned according to selected difficulty level.</a:t>
            </a:r>
          </a:p>
          <a:p>
            <a:pPr>
              <a:defRPr sz="1800"/>
            </a:pPr>
            <a:r>
              <a:rPr dirty="0"/>
              <a:t>Timer expiration triggers GAME OVER condition automatically.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dirty="0"/>
              <a:t>Scoreboard and Score Tracking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700" y="2300748"/>
            <a:ext cx="6711654" cy="3947658"/>
          </a:xfrm>
        </p:spPr>
        <p:txBody>
          <a:bodyPr>
            <a:normAutofit/>
          </a:bodyPr>
          <a:lstStyle/>
          <a:p>
            <a:pPr>
              <a:defRPr sz="1800"/>
            </a:pPr>
            <a:r>
              <a:rPr dirty="0"/>
              <a:t>Scoreboard increments score after correct guesses.</a:t>
            </a:r>
          </a:p>
          <a:p>
            <a:pPr>
              <a:defRPr sz="1800"/>
            </a:pPr>
            <a:r>
              <a:rPr dirty="0" err="1"/>
              <a:t>ScoreTracking</a:t>
            </a:r>
            <a:r>
              <a:rPr dirty="0"/>
              <a:t> maintains player performance statistics.</a:t>
            </a:r>
          </a:p>
          <a:p>
            <a:pPr>
              <a:defRPr sz="1800"/>
            </a:pPr>
            <a:r>
              <a:rPr dirty="0" err="1"/>
              <a:t>Score_RAM</a:t>
            </a:r>
            <a:r>
              <a:rPr dirty="0"/>
              <a:t> stores score values internally.</a:t>
            </a:r>
          </a:p>
          <a:p>
            <a:pPr>
              <a:defRPr sz="1800"/>
            </a:pPr>
            <a:r>
              <a:rPr dirty="0"/>
              <a:t>Scores remain hidden during gameplay.</a:t>
            </a:r>
          </a:p>
          <a:p>
            <a:pPr>
              <a:defRPr sz="1800"/>
            </a:pPr>
            <a:r>
              <a:rPr dirty="0"/>
              <a:t>Final score displayed only after timer expiration.</a:t>
            </a:r>
          </a:p>
          <a:p>
            <a:pPr>
              <a:defRPr sz="1800"/>
            </a:pPr>
            <a:r>
              <a:rPr dirty="0"/>
              <a:t>Supports future leaderboard and persistent storage expansion.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dirty="0"/>
              <a:t>Display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700" y="1691147"/>
            <a:ext cx="6711654" cy="4557259"/>
          </a:xfrm>
        </p:spPr>
        <p:txBody>
          <a:bodyPr>
            <a:normAutofit/>
          </a:bodyPr>
          <a:lstStyle/>
          <a:p>
            <a:pPr>
              <a:defRPr sz="1800"/>
            </a:pPr>
            <a:r>
              <a:rPr dirty="0" err="1"/>
              <a:t>DisplayController</a:t>
            </a:r>
            <a:r>
              <a:rPr dirty="0"/>
              <a:t> manages all visual outputs.</a:t>
            </a:r>
          </a:p>
          <a:p>
            <a:pPr>
              <a:defRPr sz="1800"/>
            </a:pPr>
            <a:r>
              <a:rPr dirty="0"/>
              <a:t>My7SegmentDecoder_4To7 converts binary data into display patterns.</a:t>
            </a:r>
          </a:p>
          <a:p>
            <a:pPr>
              <a:defRPr sz="1800"/>
            </a:pPr>
            <a:r>
              <a:rPr dirty="0"/>
              <a:t>Hint7SegmentDecoder controls gameplay feedback characters.</a:t>
            </a:r>
          </a:p>
          <a:p>
            <a:pPr>
              <a:defRPr sz="1800"/>
            </a:pPr>
            <a:r>
              <a:rPr dirty="0"/>
              <a:t>Displays guesses, scores, timers, and hint messages.</a:t>
            </a:r>
          </a:p>
          <a:p>
            <a:pPr>
              <a:defRPr sz="1800"/>
            </a:pPr>
            <a:r>
              <a:rPr dirty="0"/>
              <a:t>Supports dynamic real-time FPGA visualization.</a:t>
            </a:r>
          </a:p>
          <a:p>
            <a:pPr>
              <a:defRPr sz="1800"/>
            </a:pPr>
            <a:r>
              <a:rPr dirty="0"/>
              <a:t>Improves usability and player interaction experience.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dirty="0"/>
              <a:t>LED Layout and Winner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800"/>
            </a:pPr>
            <a:r>
              <a:rPr dirty="0"/>
              <a:t>LEDs indicate login status and difficulty levels.</a:t>
            </a:r>
          </a:p>
          <a:p>
            <a:pPr>
              <a:defRPr sz="1800"/>
            </a:pPr>
            <a:r>
              <a:rPr dirty="0"/>
              <a:t>Winner celebration LEDs activate after gameplay completion.</a:t>
            </a:r>
          </a:p>
          <a:p>
            <a:pPr>
              <a:defRPr sz="1800"/>
            </a:pPr>
            <a:r>
              <a:rPr dirty="0"/>
              <a:t>Personal Winner indication lights selected LEDs.</a:t>
            </a:r>
          </a:p>
          <a:p>
            <a:pPr>
              <a:defRPr sz="1800"/>
            </a:pPr>
            <a:r>
              <a:rPr dirty="0"/>
              <a:t>Global Winner indication lights all celebration LEDs.</a:t>
            </a:r>
          </a:p>
          <a:p>
            <a:pPr>
              <a:defRPr sz="1800"/>
            </a:pPr>
            <a:r>
              <a:rPr dirty="0"/>
              <a:t>Visual indicators improve gameplay excitement and user experience.</a:t>
            </a:r>
          </a:p>
          <a:p>
            <a:pPr>
              <a:defRPr sz="1800"/>
            </a:pPr>
            <a:r>
              <a:rPr dirty="0"/>
              <a:t>Dedicated hardware signaling enhances FPGA interaction.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/>
              <a:t>Testing and Verification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17523"/>
            <a:ext cx="8229600" cy="4808641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defRPr sz="1800"/>
            </a:pPr>
            <a:r>
              <a:rPr dirty="0"/>
              <a:t>All modules tested independently before integration.</a:t>
            </a:r>
          </a:p>
          <a:p>
            <a:pPr algn="just">
              <a:lnSpc>
                <a:spcPct val="150000"/>
              </a:lnSpc>
              <a:defRPr sz="1800"/>
            </a:pPr>
            <a:r>
              <a:rPr dirty="0"/>
              <a:t>FSM transitions verified through simulation.</a:t>
            </a:r>
          </a:p>
          <a:p>
            <a:pPr algn="just">
              <a:lnSpc>
                <a:spcPct val="150000"/>
              </a:lnSpc>
              <a:defRPr sz="1800"/>
            </a:pPr>
            <a:r>
              <a:rPr dirty="0"/>
              <a:t>ROM target generation validated across all levels.</a:t>
            </a:r>
          </a:p>
          <a:p>
            <a:pPr algn="just">
              <a:lnSpc>
                <a:spcPct val="150000"/>
              </a:lnSpc>
              <a:defRPr sz="1800"/>
            </a:pPr>
            <a:r>
              <a:rPr dirty="0"/>
              <a:t>Timer synchronization verified with FPGA clock.</a:t>
            </a:r>
          </a:p>
          <a:p>
            <a:pPr algn="just">
              <a:lnSpc>
                <a:spcPct val="150000"/>
              </a:lnSpc>
              <a:defRPr sz="1800"/>
            </a:pPr>
            <a:r>
              <a:rPr dirty="0"/>
              <a:t>Display outputs tested for correct gameplay feedback.</a:t>
            </a:r>
          </a:p>
          <a:p>
            <a:pPr algn="just">
              <a:lnSpc>
                <a:spcPct val="150000"/>
              </a:lnSpc>
              <a:defRPr sz="1800"/>
            </a:pPr>
            <a:r>
              <a:rPr dirty="0"/>
              <a:t>Integrated system successfully demonstrated on FPGA hardware.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dirty="0"/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8026"/>
            <a:ext cx="8229600" cy="4838137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defRPr sz="1800"/>
            </a:pPr>
            <a:r>
              <a:rPr dirty="0"/>
              <a:t>Successfully stored 25 prime numbers in ROM.</a:t>
            </a:r>
          </a:p>
          <a:p>
            <a:pPr algn="just">
              <a:lnSpc>
                <a:spcPct val="150000"/>
              </a:lnSpc>
              <a:defRPr sz="1800"/>
            </a:pPr>
            <a:r>
              <a:rPr dirty="0"/>
              <a:t>Implemented 16-bit LFSR randomization.</a:t>
            </a:r>
          </a:p>
          <a:p>
            <a:pPr algn="just">
              <a:lnSpc>
                <a:spcPct val="150000"/>
              </a:lnSpc>
              <a:defRPr sz="1800"/>
            </a:pPr>
            <a:r>
              <a:rPr dirty="0"/>
              <a:t>Integrated 3 difficulty levels with adaptive timers.</a:t>
            </a:r>
          </a:p>
          <a:p>
            <a:pPr algn="just">
              <a:lnSpc>
                <a:spcPct val="150000"/>
              </a:lnSpc>
              <a:defRPr sz="1800"/>
            </a:pPr>
            <a:r>
              <a:rPr dirty="0"/>
              <a:t>Implemented complete 10-state gameplay FSM.</a:t>
            </a:r>
          </a:p>
          <a:p>
            <a:pPr algn="just">
              <a:lnSpc>
                <a:spcPct val="150000"/>
              </a:lnSpc>
              <a:defRPr sz="1800"/>
            </a:pPr>
            <a:r>
              <a:rPr dirty="0"/>
              <a:t>Verified real-time gameplay operation on FPGA.</a:t>
            </a:r>
          </a:p>
          <a:p>
            <a:pPr algn="just">
              <a:lnSpc>
                <a:spcPct val="150000"/>
              </a:lnSpc>
              <a:defRPr sz="1800"/>
            </a:pPr>
            <a:r>
              <a:rPr dirty="0"/>
              <a:t>Achieved stable authentication, gameplay, scoring, and display control.</a:t>
            </a:r>
          </a:p>
          <a:p>
            <a:pPr algn="just">
              <a:lnSpc>
                <a:spcPct val="150000"/>
              </a:lnSpc>
              <a:defRPr sz="1800"/>
            </a:pPr>
            <a:r>
              <a:rPr dirty="0"/>
              <a:t>Demonstrated reliable modular digital system integration.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82994"/>
            <a:ext cx="8229600" cy="4562167"/>
          </a:xfrm>
        </p:spPr>
        <p:txBody>
          <a:bodyPr>
            <a:noAutofit/>
          </a:bodyPr>
          <a:lstStyle/>
          <a:p>
            <a:pPr algn="just">
              <a:defRPr sz="1800"/>
            </a:pPr>
            <a:r>
              <a:rPr dirty="0"/>
              <a:t>Successfully designed and implemented a complete FPGA-based Prime Number Guessing Game.</a:t>
            </a:r>
          </a:p>
          <a:p>
            <a:pPr algn="just">
              <a:defRPr sz="1800"/>
            </a:pPr>
            <a:r>
              <a:rPr dirty="0"/>
              <a:t>Integrated Authentication, FSM Control, ROM Storage, LFSR Randomization, Timers, Scoreboards, and Display Systems.</a:t>
            </a:r>
          </a:p>
          <a:p>
            <a:pPr algn="just">
              <a:defRPr sz="1800"/>
            </a:pPr>
            <a:r>
              <a:rPr dirty="0"/>
              <a:t>Achieved modular, scalable, and hardware-efficient architecture.</a:t>
            </a:r>
          </a:p>
          <a:p>
            <a:pPr algn="just">
              <a:defRPr sz="1800"/>
            </a:pPr>
            <a:r>
              <a:rPr dirty="0"/>
              <a:t>Resolved real FPGA hardware challenges involving timing and display synchronization.</a:t>
            </a:r>
          </a:p>
          <a:p>
            <a:pPr algn="just">
              <a:defRPr sz="1800"/>
            </a:pPr>
            <a:r>
              <a:rPr dirty="0"/>
              <a:t>Demonstrated practical application of digital system design using Verilog HDL.</a:t>
            </a:r>
          </a:p>
          <a:p>
            <a:pPr algn="just">
              <a:defRPr sz="1800"/>
            </a:pPr>
            <a:r>
              <a:rPr dirty="0"/>
              <a:t>Project provides strong foundation for future embedded gaming and FPGA applications</a:t>
            </a:r>
            <a:r>
              <a:rPr sz="2400" dirty="0"/>
              <a:t>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r>
              <a:rPr lang="en-IN" dirty="0"/>
              <a:t>             </a:t>
            </a:r>
            <a:br>
              <a:rPr lang="en-IN" dirty="0"/>
            </a:br>
            <a:r>
              <a:rPr lang="en-IN" dirty="0"/>
              <a:t>                    </a:t>
            </a:r>
            <a:r>
              <a:rPr dirty="0"/>
              <a:t>Thank You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7702D82-8EA1-80D3-A51B-7AB30C06AD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GB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343</TotalTime>
  <Words>919</Words>
  <Application>Microsoft Office PowerPoint</Application>
  <PresentationFormat>On-screen Show (4:3)</PresentationFormat>
  <Paragraphs>129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Century Gothic</vt:lpstr>
      <vt:lpstr>Wingdings 3</vt:lpstr>
      <vt:lpstr>Ion</vt:lpstr>
      <vt:lpstr>FPGA Based Prime Number Guessing Game With ROM Based Multi-User Authentication And RAM-Score Tracking</vt:lpstr>
      <vt:lpstr> Overview</vt:lpstr>
      <vt:lpstr> Objectives</vt:lpstr>
      <vt:lpstr>System Architecture</vt:lpstr>
      <vt:lpstr>PowerPoint Presentation</vt:lpstr>
      <vt:lpstr>Interface</vt:lpstr>
      <vt:lpstr>PrimeGameController FSM</vt:lpstr>
      <vt:lpstr>Prime Target Generation</vt:lpstr>
      <vt:lpstr>Level Selection Module</vt:lpstr>
      <vt:lpstr>LFSR Randomization</vt:lpstr>
      <vt:lpstr>Authentication System</vt:lpstr>
      <vt:lpstr>Two-Digit GuessInput Module</vt:lpstr>
      <vt:lpstr>PrimeChecker Module</vt:lpstr>
      <vt:lpstr>Timer System</vt:lpstr>
      <vt:lpstr>Scoreboard and Score Tracking</vt:lpstr>
      <vt:lpstr>Display System</vt:lpstr>
      <vt:lpstr>LED Layout and Winner Detection</vt:lpstr>
      <vt:lpstr>Testing and Verification</vt:lpstr>
      <vt:lpstr>Results</vt:lpstr>
      <vt:lpstr>Conclusion</vt:lpstr>
      <vt:lpstr>                                      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Dharani raj</dc:creator>
  <cp:keywords/>
  <dc:description>generated using python-pptx</dc:description>
  <cp:lastModifiedBy>Dharani raj</cp:lastModifiedBy>
  <cp:revision>53</cp:revision>
  <dcterms:created xsi:type="dcterms:W3CDTF">2013-01-27T09:14:16Z</dcterms:created>
  <dcterms:modified xsi:type="dcterms:W3CDTF">2026-05-12T05:23:22Z</dcterms:modified>
  <cp:category/>
</cp:coreProperties>
</file>